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67f40d6e03412c" /><Relationship Type="http://schemas.openxmlformats.org/officeDocument/2006/relationships/extended-properties" Target="/docProps/app.xml" Id="R8b875bf20f6d4336" /><Relationship Type="http://schemas.openxmlformats.org/officeDocument/2006/relationships/officeDocument" Target="/ppt/presentation.xml" Id="R34c77755bbff4b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e02ad01a0b4503"/>
  </p:sldMasterIdLst>
  <p:notesMasterIdLst>
    <p:notesMasterId xmlns:r="http://schemas.openxmlformats.org/officeDocument/2006/relationships" r:id="R5bbd544bb4c445cc"/>
  </p:notesMasterIdLst>
  <p:sldIdLst>
    <p:sldId xmlns:r="http://schemas.openxmlformats.org/officeDocument/2006/relationships" id="256" r:id="R0981ff490f9246ea"/>
    <p:sldId xmlns:r="http://schemas.openxmlformats.org/officeDocument/2006/relationships" id="257" r:id="R1fe2379e1ab54ccb"/>
    <p:sldId xmlns:r="http://schemas.openxmlformats.org/officeDocument/2006/relationships" id="258" r:id="R8c54ceef0bb74481"/>
    <p:sldId xmlns:r="http://schemas.openxmlformats.org/officeDocument/2006/relationships" id="259" r:id="Rf4145e57e42046f2"/>
    <p:sldId xmlns:r="http://schemas.openxmlformats.org/officeDocument/2006/relationships" id="260" r:id="Rf919935cecab41a4"/>
    <p:sldId xmlns:r="http://schemas.openxmlformats.org/officeDocument/2006/relationships" id="261" r:id="R7e21be328c464539"/>
    <p:sldId xmlns:r="http://schemas.openxmlformats.org/officeDocument/2006/relationships" id="262" r:id="Rc37ee9b76d9e43b7"/>
    <p:sldId xmlns:r="http://schemas.openxmlformats.org/officeDocument/2006/relationships" id="263" r:id="Rcc5ed2cf7aa04594"/>
    <p:sldId xmlns:r="http://schemas.openxmlformats.org/officeDocument/2006/relationships" id="264" r:id="Rd36c44a9e0a846eb"/>
    <p:sldId xmlns:r="http://schemas.openxmlformats.org/officeDocument/2006/relationships" id="265" r:id="R2a20fceb576441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4f6fb3d0714e78" /><Relationship Type="http://schemas.openxmlformats.org/officeDocument/2006/relationships/slideMaster" Target="/ppt/slideMasters/slideMaster1.xml" Id="Rade02ad01a0b4503" /><Relationship Type="http://schemas.openxmlformats.org/officeDocument/2006/relationships/notesMaster" Target="/ppt/notesMasters/notesMaster1.xml" Id="R5bbd544bb4c445cc" /><Relationship Type="http://schemas.openxmlformats.org/officeDocument/2006/relationships/presProps" Target="/ppt/presProps.xml" Id="Rcba01bd0a5964761" /><Relationship Type="http://schemas.openxmlformats.org/officeDocument/2006/relationships/viewProps" Target="/ppt/viewProps.xml" Id="R9b01ed962d764c78" /><Relationship Type="http://schemas.openxmlformats.org/officeDocument/2006/relationships/tableStyles" Target="/ppt/tableStyles.xml" Id="Rddb5c214f77f40bc" /><Relationship Type="http://schemas.openxmlformats.org/officeDocument/2006/relationships/slide" Target="/ppt/slides/slide1.xml" Id="R0981ff490f9246ea" /><Relationship Type="http://schemas.openxmlformats.org/officeDocument/2006/relationships/slide" Target="/ppt/slides/slide2.xml" Id="R1fe2379e1ab54ccb" /><Relationship Type="http://schemas.openxmlformats.org/officeDocument/2006/relationships/slide" Target="/ppt/slides/slide3.xml" Id="R8c54ceef0bb74481" /><Relationship Type="http://schemas.openxmlformats.org/officeDocument/2006/relationships/slide" Target="/ppt/slides/slide4.xml" Id="Rf4145e57e42046f2" /><Relationship Type="http://schemas.openxmlformats.org/officeDocument/2006/relationships/slide" Target="/ppt/slides/slide5.xml" Id="Rf919935cecab41a4" /><Relationship Type="http://schemas.openxmlformats.org/officeDocument/2006/relationships/slide" Target="/ppt/slides/slide6.xml" Id="R7e21be328c464539" /><Relationship Type="http://schemas.openxmlformats.org/officeDocument/2006/relationships/slide" Target="/ppt/slides/slide7.xml" Id="Rc37ee9b76d9e43b7" /><Relationship Type="http://schemas.openxmlformats.org/officeDocument/2006/relationships/slide" Target="/ppt/slides/slide8.xml" Id="Rcc5ed2cf7aa04594" /><Relationship Type="http://schemas.openxmlformats.org/officeDocument/2006/relationships/slide" Target="/ppt/slides/slide9.xml" Id="Rd36c44a9e0a846eb" /><Relationship Type="http://schemas.openxmlformats.org/officeDocument/2006/relationships/slide" Target="/ppt/slides/slide10.xml" Id="R2a20fceb576441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67d19e02ab46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82420a76cc4497" /><Relationship Type="http://schemas.openxmlformats.org/officeDocument/2006/relationships/notesMaster" Target="/ppt/notesMasters/notesMaster1.xml" Id="Ra88a0da862b74e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b9bcfd1bfb45ad" /><Relationship Type="http://schemas.openxmlformats.org/officeDocument/2006/relationships/notesMaster" Target="/ppt/notesMasters/notesMaster1.xml" Id="R67d305248cac48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cb726784e14ec5" /><Relationship Type="http://schemas.openxmlformats.org/officeDocument/2006/relationships/notesMaster" Target="/ppt/notesMasters/notesMaster1.xml" Id="Re221c185f53a49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3a9199ac1c43fc" /><Relationship Type="http://schemas.openxmlformats.org/officeDocument/2006/relationships/notesMaster" Target="/ppt/notesMasters/notesMaster1.xml" Id="Rfbd488f69ae045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40a61f8c264d12" /><Relationship Type="http://schemas.openxmlformats.org/officeDocument/2006/relationships/notesMaster" Target="/ppt/notesMasters/notesMaster1.xml" Id="R7efa51b97fa747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f4548bc41e425e" /><Relationship Type="http://schemas.openxmlformats.org/officeDocument/2006/relationships/notesMaster" Target="/ppt/notesMasters/notesMaster1.xml" Id="R7975c5a938ef4d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1bbd0ca95b46b5" /><Relationship Type="http://schemas.openxmlformats.org/officeDocument/2006/relationships/notesMaster" Target="/ppt/notesMasters/notesMaster1.xml" Id="R8d23c91fc5ac4b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0289d5fe7c46e4" /><Relationship Type="http://schemas.openxmlformats.org/officeDocument/2006/relationships/notesMaster" Target="/ppt/notesMasters/notesMaster1.xml" Id="R3d6419aa937045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8678f1b34c45ba" /><Relationship Type="http://schemas.openxmlformats.org/officeDocument/2006/relationships/notesMaster" Target="/ppt/notesMasters/notesMaster1.xml" Id="Rf51e8cdbcad345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1108b08d794fe1" /><Relationship Type="http://schemas.openxmlformats.org/officeDocument/2006/relationships/notesMaster" Target="/ppt/notesMasters/notesMaster1.xml" Id="R95102ed05cf04f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4d9cd34354a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3bdda42f0e4f77" /><Relationship Type="http://schemas.openxmlformats.org/officeDocument/2006/relationships/slideLayout" Target="/ppt/slideLayouts/slideLayout1.xml" Id="R3de8a86a36aa44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e8a86a36aa44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b130dddcb4fdb" /><Relationship Type="http://schemas.openxmlformats.org/officeDocument/2006/relationships/notesSlide" Target="/ppt/notesSlides/notesSlide1.xml" Id="Rce7561c802354c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eb8694df4449d" /><Relationship Type="http://schemas.openxmlformats.org/officeDocument/2006/relationships/notesSlide" Target="/ppt/notesSlides/notesSlide2.xml" Id="Rd367ce26fc864f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46ad392384e4d" /><Relationship Type="http://schemas.openxmlformats.org/officeDocument/2006/relationships/notesSlide" Target="/ppt/notesSlides/notesSlide3.xml" Id="R920ad2ec5e6c44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32c975b9a4bc6" /><Relationship Type="http://schemas.openxmlformats.org/officeDocument/2006/relationships/notesSlide" Target="/ppt/notesSlides/notesSlide4.xml" Id="R3a13a75a3ff44b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d3746837540d7" /><Relationship Type="http://schemas.openxmlformats.org/officeDocument/2006/relationships/notesSlide" Target="/ppt/notesSlides/notesSlide5.xml" Id="R1cc100ef3bf94d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c6f312fb04950" /><Relationship Type="http://schemas.openxmlformats.org/officeDocument/2006/relationships/notesSlide" Target="/ppt/notesSlides/notesSlide6.xml" Id="Rd513b0391ac748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6e9253adc4082" /><Relationship Type="http://schemas.openxmlformats.org/officeDocument/2006/relationships/notesSlide" Target="/ppt/notesSlides/notesSlide7.xml" Id="R92c2ace9cbe149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643e5bd3e4989" /><Relationship Type="http://schemas.openxmlformats.org/officeDocument/2006/relationships/notesSlide" Target="/ppt/notesSlides/notesSlide8.xml" Id="Rf792d1bd1ee943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4d8fef1b446d2" /><Relationship Type="http://schemas.openxmlformats.org/officeDocument/2006/relationships/notesSlide" Target="/ppt/notesSlides/notesSlide9.xml" Id="R552dc6660fc249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ebd00e74d4659" /><Relationship Type="http://schemas.openxmlformats.org/officeDocument/2006/relationships/notesSlide" Target="/ppt/notesSlides/notesSlide10.xml" Id="Rab3b576d6f6e49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F6E222-4701-417C-A06D-47E6E7F4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7B7C1-F848-46C9-A87D-27883686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9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CAD4D-AEAB-41E0-AC3A-74AAE2F7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9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A959"/>
                </a:solidFill>
                <a:latin typeface="Aptos"/>
                <a:ea typeface="Aptos"/>
                <a:cs typeface="Aptos"/>
              </a:rPr>
              <a:t>COMMONGROUND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2A978-3120-4132-9ED0-0F16C05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8191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8F5E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8F5EF"/>
                </a:solidFill>
                <a:latin typeface="Aptos Display"/>
                <a:ea typeface="Aptos Display"/>
                <a:cs typeface="Aptos Display"/>
              </a:rPr>
              <a:t>A recommender system for designing the first offline hour.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CEB6D-34FF-4E4A-BC81-DE8DD99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685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8D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8DB"/>
                </a:solidFill>
                <a:latin typeface="Aptos"/>
                <a:ea typeface="Aptos"/>
                <a:cs typeface="Aptos"/>
              </a:rPr>
              <a:t>We do not recommend people. We recommend a room: the people, activity, venue, and context that make showing up feel safe and worthwhile.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E7712-903C-4D39-8BBE-C6BA3104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088CA-2054-449B-98F6-E909764E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Spectrum / iMessage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DC916-3B0F-48AC-8DEF-AAE3E35B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4767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34795-5650-4955-94E1-CBC88D00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5339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AI Passport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95661-CF74-4D08-9862-ACCD5364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767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EA848-F5BA-4808-A0AA-8CBFA47D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339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Room recommender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C3221-6033-422F-85F6-A88A1107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4767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94F51-82F8-489A-AEE4-564AD31E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5339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55D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5D35"/>
                </a:solidFill>
                <a:latin typeface="Aptos"/>
                <a:ea typeface="Aptos"/>
                <a:cs typeface="Aptos"/>
              </a:rPr>
              <a:t>iOS handoff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E9758-AD9A-467E-96EA-D0FAF396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767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3F093-2D40-4A4F-A43E-AB892C5B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339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55D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5D35"/>
                </a:solidFill>
                <a:latin typeface="Aptos"/>
                <a:ea typeface="Aptos"/>
                <a:cs typeface="Aptos"/>
              </a:rPr>
              <a:t>Vibe 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AC3BE-4D3B-430F-992E-C5D9113E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04900"/>
            <a:ext cx="95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65445-9382-41E4-9746-ABB1B96D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66850"/>
            <a:ext cx="123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9A95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9A959"/>
                </a:solidFill>
                <a:latin typeface="Aptos Display"/>
                <a:ea typeface="Aptos Display"/>
                <a:cs typeface="Aptos Display"/>
              </a:rPr>
              <a:t>37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47242-4602-4E78-A4E3-C67984A5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D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DB"/>
                </a:solidFill>
                <a:latin typeface="Aptos"/>
                <a:ea typeface="Aptos"/>
                <a:cs typeface="Aptos"/>
              </a:rPr>
              <a:t>passing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51880-83EA-4337-BAB9-8CA522A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123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9A95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9A959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B7D9F-395E-4ACE-88C6-F1EE0BB6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D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DB"/>
                </a:solidFill>
                <a:latin typeface="Aptos"/>
                <a:ea typeface="Aptos"/>
                <a:cs typeface="Aptos"/>
              </a:rPr>
              <a:t>test 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04C1F-9AE2-4431-93E2-A957A15B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123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9A95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9A959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8B621-96BF-46D1-9036-9569BA39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52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8D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DB"/>
                </a:solidFill>
                <a:latin typeface="Aptos"/>
                <a:ea typeface="Aptos"/>
                <a:cs typeface="Aptos"/>
              </a:rPr>
              <a:t>MVP claims mapped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E6F7E-236B-48F7-8C49-3FE58CE8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PR #3 branch: feature/research-matching-calendar-loop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B14CF-4619-450B-81BA-FDEA3CF7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31955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D17CF2-D6C4-4BD3-AD41-8892DA0C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6D1FD-52A3-4968-8776-58C813A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5E6E1-EDE4-4448-9CE7-C9783FF9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91333-B5D2-4859-83D3-30731561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Social apps optimize browsing. CommonGround optimizes the first hour.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F449A-A2FA-4C27-AF26-EB113779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26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2E185-52A3-4C83-9E1E-A8E87FBB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Thin profiles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FE96C-2EB2-482F-90E2-BFBDB292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performative identity, shallow preferences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C7CEA-4ED0-479E-94F0-742E2D24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26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157F7-F721-4C8C-B63A-2348BE86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One-sided matching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67E15-04B9-433C-A578-B9C60B54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a person is treated like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2AD0E-51E0-4DA3-8ED9-0FA34649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26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4B443-EA80-4E94-BFBA-AA7ECE94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Awkward first meet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6B7FA-336C-4244-B829-F08D4784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no shared object or safe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E4258-4ECC-4728-9DD1-B5B40B65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26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32E28-1D4F-4F76-A479-492265C2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Coordination drag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A6E55-DD9E-4EF4-BD7F-6B8E0CD1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calendar, venue, travel, RSVP chaos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3D58C-8B35-4C2C-A0E7-E00E7F39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62150"/>
            <a:ext cx="190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12076-56A6-40EF-B910-E349C52D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764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Product inversion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742D2-D67B-4369-8F2F-76F67A2D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6DB73-FC3A-45B0-B38C-58CB3EFD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Verified 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77FE7-9FEF-4E17-8EEC-F7D9DAC0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LinkedIn URL only as true-person handle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916CD-4ED0-4EE7-9B09-A862E08B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0A331-1934-4BDD-9B64-551E82A1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14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AI Passport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5805E9-D3E3-4A0E-9A42-EF29A4FC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user-approved taste and conversation signals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37DB4-9594-41BC-91D4-E867AFE2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6CD7C-D250-4172-9AFC-C651420E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Room design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A08468-8B17-4423-9F6F-8F78D2C7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people + activity + venue + context card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28D981-BA86-468F-AC5D-865A6939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24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27B22D-7D9B-4E1A-B837-D32EB26B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48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Local handoff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5283A-C4C3-48DA-95FB-9CC94B8E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iPhone Calendar-ready card + Apple Maps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DF070A-C1CD-4217-815D-676C2715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The demo proves a narrow outcome: can this room create enough trust, common ground, and comfort to be worth showing up for?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C0A37B-FBFC-4924-BEC6-5BF29789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Source: README + docs/commonground-business-flow-v2.md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BF22F4-BB19-44D2-9E45-4AA7223F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67092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1E446F-3446-4364-B1E4-FE686ED8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D3725-53C0-46FE-8736-330E28E0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13007-B81E-43A4-815D-60127AF1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LIVE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3DA7E-D5F9-46FF-9776-4FD887C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The GitHub branch now supports the full CommonGround member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89AFC-A8C9-4182-ADF7-88576B44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6E605-F918-44E8-84E8-EE15D699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680A2-A885-4BA1-8DB2-F9485B9D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private invite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3F6D5-130C-4B0C-9BD3-B535E8DB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982EB-30EE-47CF-BF24-498699D1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955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FE880-051B-4465-9E7B-347D7B30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3B4A0-792E-41D7-B323-954BCA36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05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CONSENT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F914E-F06E-49E6-85BF-5989ED7C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data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CF7D6-EEC0-4F1F-8D49-AF0DA2FA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336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95A5C-75E7-41A3-9295-FD2D13DD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955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8DF42-EB50-4F36-80C7-DFF5E5C9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C9FD5-559C-4E18-9FBE-BD1F4DDE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LinkedIn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49BC0-1FE3-4463-8A7D-0D2BB57F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52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true-person handle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1C553-AD11-4C0F-919C-FEC8F012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3931B-E47B-45A3-8066-DBA36737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955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4F1AF-0537-4EAF-BF08-863CCAF3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5983D-0C74-4FA2-B4D3-59E635E7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AI Passport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77749-09D8-4604-8B67-FAE8BEFD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52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user-approved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93FC4-2926-4A45-AD3B-B21A1842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02E93-8F7A-45B1-B041-D46EB5D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A754BD-7674-47E4-B9E6-04F8C092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redaction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226194-03E0-4740-9E0B-A5BD95BA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862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98C5F0-B45E-410F-9AAE-42D4D2AA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8481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E5B72-9ED1-4D5B-85BE-431F3F5D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0FAA7-E00F-4C10-8A57-7626D9AA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Preferences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7E27BE-F75C-40C3-864E-9CA4C018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intent + constraints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CDFE66-B806-4CE7-B6B5-7051D7D8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01BB66-2EDC-4227-9DC5-E4F337A1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481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8CE9AF-183F-4318-A32C-2FD55908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3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0FD904-9102-4A88-984B-270BD67C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576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55D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55D35"/>
                </a:solidFill>
                <a:latin typeface="Aptos"/>
                <a:ea typeface="Aptos"/>
                <a:cs typeface="Aptos"/>
              </a:rPr>
              <a:t>Room drop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81F8A2-CAE1-4BEC-A543-67D0A6CD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context card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1850E7-C469-4D39-A602-5339E08F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F91B9-0E62-4CE7-9E08-8E24B28B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481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9D893D-85C0-4715-82D2-3CC4C544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433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E34B18-5329-4543-94B8-C4B40313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576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A139D6-F835-4B66-A037-CCD7AE6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052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mutual opt-in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EEC3E7-C21E-493B-89C6-F3C95564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819A15-A327-4273-BAEA-0A3F4EDD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Free windows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3CA53C-0B25-4240-B961-3EBD0371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slot overlap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DB8FDF-1DA3-4EF1-99A2-C2585338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38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18F008-4041-4881-B45A-9660F06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200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5423F2-E7B4-4E66-87BA-8EFE0EDD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9585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D58DE5-8FEC-4D2F-809B-995A88EF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101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4BDAA3-E63D-4125-B1FD-A9E0D603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578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calendar + maps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32A4B9-F567-438B-9D74-2F1C218B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387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807CB5-9FB4-4BAF-81E1-6555FC9B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200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E18FBC-6EDF-4FA1-B89E-89ED0FA8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9585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8D7D1C-5DC4-4CFA-8019-917B3649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F02902-CD8F-4070-9EC8-BE8A44CA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578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vibe tuning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2F093B-4999-420E-8D53-6690D732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7655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A843A2-C727-4F10-A7FC-B531724A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147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61AFAA-4D90-4987-9A77-7F955053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2291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D6918A-2BC3-4B2D-9079-CD952465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672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9CF026-7CB1-4BE3-926C-902D34C6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695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Protocol-owned onboarding prevents the host/invite agent from chiming in during CommonGround.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FFF6CD-C83D-41ED-94F6-9668E7E6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Source: src/commonground.ts + src/agent.test.ts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871F7C-C795-42F3-8C3E-76226C53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69943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2F9D6-18BD-418A-AA4B-517F456E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6F345-6980-4270-B79C-A248D5AE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2D717-FFA8-4064-8168-D5F3B85E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TRUST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23553-CD2C-4647-8BC4-F92EA406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Matching starts only after consented, separated data layers.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F425F-7AB6-499D-A6AB-6F6CAAAC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812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A8719-F099-4078-8DD6-C2857A31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6C4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D96C4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D9395-44D9-491A-8B4B-77E3B946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Verification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FE615-DF62-4B0E-8CEB-0056A28A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LinkedIn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F9391-B576-4C8E-8966-F83EF568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962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Used only as a true-person identity handle. No scraping and no matching 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A9D11-196E-4B25-99D8-0700C860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3812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A8CA6-5EED-4980-91FC-A0D25120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6C4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D96C4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86437-59A1-4659-A4F6-91228E13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28950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User-approved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8B336-D5C7-4710-AEFA-8CA705AA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766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AI Passport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579B7-CE4E-40A4-AEDF-DE19AB6C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38600"/>
            <a:ext cx="1962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Everyday-AI summary is reviewed, redacted, and approved before use.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98179-3173-44BB-9865-FA53172F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3812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9C065-8F1B-467B-872B-915597EB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6C4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D96C4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AD3FE-B52D-4404-A0E3-979F41D4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Explicit constraint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97265-3034-4B21-947F-AD5D2A3B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Preferences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37657-65B8-4223-91C5-4D2A2488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1962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Intent, boundaries, availability, budget, location radius, and alcohol comfort.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5A025-90D1-4886-96C0-EFCEED78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23812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7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9F5C3-479A-43D3-9F45-2B8D08B2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9A95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9A959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B0C92-0FBE-4CDB-80B3-69BE2C14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28950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5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5EF"/>
                </a:solidFill>
                <a:latin typeface="Aptos"/>
                <a:ea typeface="Aptos"/>
                <a:cs typeface="Aptos"/>
              </a:rPr>
              <a:t>Shared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0E6E7-9699-49D4-9DEC-F7A4FC10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766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9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A959"/>
                </a:solidFill>
                <a:latin typeface="Aptos"/>
                <a:ea typeface="Aptos"/>
                <a:cs typeface="Aptos"/>
              </a:rPr>
              <a:t>Context Card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825DEC-A2DA-4429-B030-94DB230C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38600"/>
            <a:ext cx="1962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D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DB"/>
                </a:solidFill>
                <a:latin typeface="Aptos"/>
                <a:ea typeface="Aptos"/>
                <a:cs typeface="Aptos"/>
              </a:rPr>
              <a:t>Other users see only lightweight common ground and safe prompts.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5CD35-C71A-4CC8-BC90-84B5120C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Pitch-safe boundary: the MVP does not scrape LinkedIn, ingest raw chat history, silently read iPhone data, or claim a trained compatibility model.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F04EE-A54A-439B-BEFD-DDD57FD7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Source: src/methodology_map.ts + docs/methodology-to-mvp-map.md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B4BAF-01A9-41C8-A42A-D788A189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5345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6C0962-4A0A-40BD-A1C3-48E58197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67C7A-ED01-4F3A-ABC4-A8D688E3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EF53B-E34D-4930-8AE8-6E377045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RECOMMENDER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A1D03-1FE8-480C-BFE6-B96A2415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The model is framed as room quality, not destiny prediction.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084AB-4629-4258-8AF4-3CA8997B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8293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BCC59-FDEE-48E3-9338-6CBB5EBD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Current recommender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EA0AE-1B0F-4B9F-91D9-3BD0C2F9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First-meeting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64D51-BD6F-4E8C-8B92-D87CC917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9337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83C7E-47E4-479A-B26A-149533D9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933700"/>
            <a:ext cx="155638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02E25-EA03-44FE-AE91-26979E2B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6702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86 /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511C2-0E79-4524-840E-16004FBE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Dyadic chemistry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3EBBF-F8F8-4F50-A34A-32CC2DD3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480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AFBA5-C185-418F-9DBA-AC7BAC2F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48050"/>
            <a:ext cx="13392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B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D3E96-3283-4C2A-B6F0-C9CB56E4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813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74 / 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45B93-AD1A-458C-B8FB-DC750298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Group dynamics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75155-94E0-451B-9B27-96E1C9A8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6240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AAF80-4756-4B97-B17B-93AA144A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62400"/>
            <a:ext cx="148399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9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E02F9-A564-4404-A839-D18D4F10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9572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82 / 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F5631-929B-444E-B33B-FD0A2061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Experience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E05AD-CEEE-4290-AED8-35DC3E50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4767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F5CEC-485A-4642-897C-2CC216EA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476750"/>
            <a:ext cx="1628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6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3B262-D0AD-42F9-9039-E4BE9703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100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90 / 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D6900-9810-45C8-9959-2DD17231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Scores are first-pass product heuristics from AI Passport + preferences. They are demo explainability, not validated empirical coefficients.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E2B45-8F5C-4D37-B106-49BB1C1F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41529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B36758-ED16-401B-A13D-A4D979BB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62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5E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5EF"/>
                </a:solidFill>
                <a:latin typeface="Aptos"/>
                <a:ea typeface="Aptos"/>
                <a:cs typeface="Aptos"/>
              </a:rPr>
              <a:t>Signal pipeline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FCE663-6833-4305-A5BE-E4DBE023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9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64945-B49D-4710-8692-C69B6D95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5E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5EF"/>
                </a:solidFill>
                <a:latin typeface="Aptos"/>
                <a:ea typeface="Aptos"/>
                <a:cs typeface="Aptos"/>
              </a:rPr>
              <a:t>Passport parser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26A0F9-0943-4BDE-BE17-03F732B2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AD5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AD5CE"/>
                </a:solidFill>
                <a:latin typeface="Aptos"/>
                <a:ea typeface="Aptos"/>
                <a:cs typeface="Aptos"/>
              </a:rPr>
              <a:t>interests, values, social modes, boundaries, energy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C1F4D-9C40-4303-B911-13CB1768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76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9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4CB21B-788C-4B77-97F1-0163F5E9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0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5E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5EF"/>
                </a:solidFill>
                <a:latin typeface="Aptos"/>
                <a:ea typeface="Aptos"/>
                <a:cs typeface="Aptos"/>
              </a:rPr>
              <a:t>Candidate pool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E41D7B-D9D0-4F38-98E2-D839C3FD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AD5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AD5CE"/>
                </a:solidFill>
                <a:latin typeface="Aptos"/>
                <a:ea typeface="Aptos"/>
                <a:cs typeface="Aptos"/>
              </a:rPr>
              <a:t>seeded NTU-linked demo users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CE8A45-B660-429F-8898-3DEA5DF2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7E6CF3-EAE2-461A-9A85-F51FB4A8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5E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5EF"/>
                </a:solidFill>
                <a:latin typeface="Aptos"/>
                <a:ea typeface="Aptos"/>
                <a:cs typeface="Aptos"/>
              </a:rPr>
              <a:t>Room scorer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C0AA6-B695-4BD1-8FE8-D002918A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52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AD5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AD5CE"/>
                </a:solidFill>
                <a:latin typeface="Aptos"/>
                <a:ea typeface="Aptos"/>
                <a:cs typeface="Aptos"/>
              </a:rPr>
              <a:t>dyadic + group + activity mechanics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5630C-E5E6-4D0E-9985-BCECB000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48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9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8F682B-4702-4393-83B4-F5AD911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72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5E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5EF"/>
                </a:solidFill>
                <a:latin typeface="Aptos"/>
                <a:ea typeface="Aptos"/>
                <a:cs typeface="Aptos"/>
              </a:rPr>
              <a:t>Context generator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6BDE36-1CE1-414E-953F-40A56E9D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387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AD5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AD5CE"/>
                </a:solidFill>
                <a:latin typeface="Aptos"/>
                <a:ea typeface="Aptos"/>
                <a:cs typeface="Aptos"/>
              </a:rPr>
              <a:t>safe shared context and warm-up prompts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4CAE44-E194-4876-9D88-CC6241C5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Source: src/commonground_recommender.ts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CB3570-C40B-4386-AB89-EE1CD8C7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13614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6FF37B-B89E-478F-A01F-53D9965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1627F-B4F1-46D3-8CDA-FBA05B35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D3D19-3775-4EFE-A10C-65963D43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CONTEXT CARD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AA80C-9BA7-4BFA-9F2A-930D6A3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Private input becomes a lightweight, safe pre-event brief.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D0597-E199-4D8B-9DA7-B005C236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5572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C3CE9-8428-4381-A5DC-A240B9F0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54723-844E-42BC-B8A4-E1FD0941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28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55D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5D35"/>
                </a:solidFill>
                <a:latin typeface="Aptos"/>
                <a:ea typeface="Aptos"/>
                <a:cs typeface="Aptos"/>
              </a:rPr>
              <a:t>WEEKLY ROOM DROP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E9CDF-0145-4923-A885-6508872F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AI x Career Transition Coffee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452CF-720F-4CB8-AE5C-BDD595DB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You + Mina + Ethan + Claire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81048-DF0F-476D-8F51-1A8EDA5B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29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11F"/>
                </a:solidFill>
                <a:latin typeface="Aptos"/>
                <a:ea typeface="Aptos"/>
                <a:cs typeface="Aptos"/>
              </a:rPr>
              <a:t>Activity: coffee / matcha with structured conversation cards</a:t>
            </a:r>
          </a:p>
          <a:p xmlns:a="http://schemas.openxmlformats.org/drawingml/2006/main">
            <a:pPr algn="l">
              <a:defRPr sz="1275" b="0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11F"/>
                </a:solidFill>
                <a:latin typeface="Aptos"/>
                <a:ea typeface="Aptos"/>
                <a:cs typeface="Aptos"/>
              </a:rPr>
              <a:t>Venue style: quiet cafe near Da'an Taipei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57D2D-E97C-409D-A8C7-132D088E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53F77-5408-4F04-A499-BCD2B123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Shared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36152-F855-424E-9787-A472E38F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• AI changing work</a:t>
            </a:r>
          </a:p>
          <a:p xmlns:a="http://schemas.openxmlformats.org/drawingml/2006/main">
            <a:pPr algn="l">
              <a:defRPr sz="12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• career transitions across tech, finance, and product</a:t>
            </a:r>
          </a:p>
          <a:p xmlns:a="http://schemas.openxmlformats.org/drawingml/2006/main">
            <a:pPr algn="l">
              <a:defRPr sz="12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• low-pressure city cafe culture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47619-E082-4015-8B6A-28164349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371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AC57A-EB9D-423C-855D-5549CB22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Shown to participants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B2457-E281-42B8-9353-AB5F2C74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3028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11F"/>
                </a:solidFill>
                <a:latin typeface="Aptos"/>
                <a:ea typeface="Aptos"/>
                <a:cs typeface="Aptos"/>
              </a:rPr>
              <a:t>shared context, warm-up prompts, public venue, no forced contact exchange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F40BB-FEB8-4DA6-9E72-B4AB5A9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48050"/>
            <a:ext cx="371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3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32762-7253-4C67-837D-198AE66F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38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55D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55D35"/>
                </a:solidFill>
                <a:latin typeface="Aptos"/>
                <a:ea typeface="Aptos"/>
                <a:cs typeface="Aptos"/>
              </a:rPr>
              <a:t>Hidden from participants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CAB3A-CCB9-4B82-BBA3-39DE75F3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62400"/>
            <a:ext cx="3028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11F"/>
                </a:solidFill>
                <a:latin typeface="Aptos"/>
                <a:ea typeface="Aptos"/>
                <a:cs typeface="Aptos"/>
              </a:rPr>
              <a:t>raw AI Passport, private boundaries, LinkedIn URL, exact preference 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1DAC3-0CD0-4A4E-A303-BAD4EC74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62500"/>
            <a:ext cx="371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E8B7A-FBF4-4578-B528-7EB74838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53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A9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A959"/>
                </a:solidFill>
                <a:latin typeface="Aptos"/>
                <a:ea typeface="Aptos"/>
                <a:cs typeface="Aptos"/>
              </a:rPr>
              <a:t>Product principle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45A8A-7744-4342-8E57-040BC559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76850"/>
            <a:ext cx="3028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D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DB"/>
                </a:solidFill>
                <a:latin typeface="Aptos"/>
                <a:ea typeface="Aptos"/>
                <a:cs typeface="Aptos"/>
              </a:rPr>
              <a:t>make the meeting less awkward without exposing the person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6DD7B-17B8-4670-9364-915A3969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Source: contextCard() in src/commonground.ts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B5F23-F7C0-4832-9465-5F4E841F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3741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A01F63-F391-46D1-9EF1-956141D4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A8618-42EE-473D-B145-3BBD7585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4E59B-5EC1-4865-BED8-DB0B8305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SCHEDULING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50D48-0237-448F-841B-A23DCADB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For the demo, calendar truth comes from local iPhone free windows.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5EE6B-A1AC-4A61-8417-6B68F68F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7239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99D5D-9F1C-4F31-BC67-7170CE8D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Thu evening overlap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1B9BC-B8DA-4667-A312-5D898FB4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990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15DA8-0010-49FE-A3D8-AFE5BD5B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52750"/>
            <a:ext cx="95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171EA-F8F7-49D8-9EDD-E7FC6F0A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48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6:00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EE54F-9C40-4940-9889-6514C6F4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95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B7D0C-30B2-4AD6-A121-39D51B61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48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7:00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B2BC4-E576-4901-BDB6-4566EE6B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95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DE939-55D2-4010-AFCB-E9F1FB22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7:30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4DEEF-AFBD-4A65-AF92-1B37AAF8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95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70769-A092-4AC7-BCD6-7845DE3E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48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8:30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BAA9D-F2CA-4745-95EE-95BFDBD1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52750"/>
            <a:ext cx="95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5B6E5-9FBC-4D8C-9139-FD637AA9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48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9:00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4CE95-30F5-409C-B564-C224437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you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805AB-F52B-49D0-938A-75CB66A5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8929F-CB61-4E48-9918-041AD04C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Mina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BEEB6-D588-4C95-A806-524A357D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90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B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47E69-70CB-4021-BD07-BF977CD8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Ethan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785DA-FBF7-47AC-AB52-684B7EAB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053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9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9C7530-69E2-4D3A-A5CA-1CEB5DFB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876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6C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CBC676-2A65-4C8F-B399-8EB2A2D9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6C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6C4F"/>
                </a:solidFill>
                <a:latin typeface="Aptos"/>
                <a:ea typeface="Aptos"/>
                <a:cs typeface="Aptos"/>
              </a:rPr>
              <a:t>mutual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577FE-66DB-43BB-92A2-747DD2AE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67DA07-D1E7-44B9-A0B9-E98AE7FD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A9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A959"/>
                </a:solidFill>
                <a:latin typeface="Aptos"/>
                <a:ea typeface="Aptos"/>
                <a:cs typeface="Aptos"/>
              </a:rPr>
              <a:t>Input format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296FBE-3BF8-476B-A8AE-F59583B7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2247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you: Thu 7:30 PM</a:t>
            </a:r>
          </a:p>
          <a:p xmlns:a="http://schemas.openxmlformats.org/drawingml/2006/main">
            <a:pPr algn="l">
              <a:defRPr sz="1275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Mina: Thu 7:30 PM</a:t>
            </a:r>
          </a:p>
          <a:p xmlns:a="http://schemas.openxmlformats.org/drawingml/2006/main">
            <a:pPr algn="l">
              <a:defRPr sz="1275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Ethan: Thu 7:30 PM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1A4AC3-6813-43EF-B405-03623AFE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The agent asks for free windows only: no event names, no private calendar details.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2D16BD-0F5E-406F-ACB2-ABC4344B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Source: parseAvailabilityWindows() + findMutualSlots()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CFD7DE-C32B-42BE-B3A2-D3ACE87D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94132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DAE42D-BB58-4BE9-9D3A-2E7DC542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59618-08C2-48A7-9D09-49951B1C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97060-99E6-410E-B0D5-A352CF4C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CODE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A2322-AD51-4FBE-AF70-3B4E5A60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One Spectrum agent now has two clean product surfaces.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C4BF4-68F9-4411-BE66-8AEB7185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36962-5119-4578-A85E-23BF06EF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src/index.ts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CB1D0-83D3-4C8D-96B1-9105C3C8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Spectrum provider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35676-3AA7-4300-BEF4-3AD77771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81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52A8B-5DA4-4A4A-901C-A300FE71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95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src/agent.ts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C6F64-238E-43A2-B33D-41186F2F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33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top-level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BF68F-381C-4CBD-87EE-751D2A3F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929A4-977E-4C2B-81BF-7D3FB80F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src/commonground.ts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5B2D5-D9EE-4C5F-AF2F-249B3BAD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member onboarding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88E01-CF93-46AD-B641-4D39DFFB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2781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A24DA-CD2E-470F-B61E-6E0BE31B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src/commonground_recommender.ts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9AB88-8F76-4DCC-B7E4-80A25ECA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room + slot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F036C-7B46-45A2-BEC4-7067CE49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148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E9350-C2DD-4EC1-A8D5-90D99FCB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src/ios.ts / calendar.ts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CBE5C-BB86-4B3E-A2B4-9567C880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Calendar + Maps handoff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CCB49-21DE-4E05-B884-2BBE19C8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148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D5D31E-5684-4AC5-B2A7-D7C84E9F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29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pullup host 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CECD0-D505-4780-ACA9-68F4A66D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673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draft / approve / send / RSVP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3B9253-992F-4760-BE4D-3F3A0AEA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E259D-EB67-48E8-B7A3-E775AE35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860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D9301A-D067-4EC7-939D-711AE4D0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1DED22-8F58-4A1B-93B3-FF816759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050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4DB07B-4D8E-4E7F-9CE4-9B59BDB0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12ABE-5F7E-4BB7-80E4-EF7BB140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718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FDF997-405D-4078-9CFC-94B448A4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577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47FDB4-EA1E-4566-B454-1BAD14EB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819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919035-4921-4EBD-AD9E-BE78B60D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B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D89C9D-D5CC-4046-BE7C-7D0B3217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289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8B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921F8F-673F-4010-9E1A-401852DA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433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B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F3D125-7364-44AF-8FBF-17FDD4FA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862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8B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457AF-BEA2-416F-811F-86EB4D2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16764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8AAA9E-7936-4359-B562-33B15017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A9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A959"/>
                </a:solidFill>
                <a:latin typeface="Aptos"/>
                <a:ea typeface="Aptos"/>
                <a:cs typeface="Aptos"/>
              </a:rPr>
              <a:t>Test proof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131F40-EE30-40EC-BABE-2DC6C244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1238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5E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5EF"/>
                </a:solidFill>
                <a:latin typeface="Aptos"/>
                <a:ea typeface="Aptos"/>
                <a:cs typeface="Aptos"/>
              </a:rPr>
              <a:t>37 passing</a:t>
            </a:r>
          </a:p>
          <a:p xmlns:a="http://schemas.openxmlformats.org/drawingml/2006/main">
            <a:pPr algn="l">
              <a:defRPr sz="1650" b="1">
                <a:solidFill>
                  <a:srgbClr val="F8F5E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5EF"/>
                </a:solidFill>
                <a:latin typeface="Aptos"/>
                <a:ea typeface="Aptos"/>
                <a:cs typeface="Aptos"/>
              </a:rPr>
              <a:t>0 failures</a:t>
            </a:r>
          </a:p>
          <a:p xmlns:a="http://schemas.openxmlformats.org/drawingml/2006/main">
            <a:pPr algn="l">
              <a:defRPr sz="1650" b="1">
                <a:solidFill>
                  <a:srgbClr val="F8F5E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5EF"/>
                </a:solidFill>
                <a:latin typeface="Aptos"/>
                <a:ea typeface="Aptos"/>
                <a:cs typeface="Aptos"/>
              </a:rPr>
              <a:t>160 expects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50D730-B9E1-4A41-B83A-01B45442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The CommonGround protocol owns its onboarding turns, so host-drafting logic does not interrupt the member flow.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3858CB-693F-4201-A593-6D2DF6FF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Source: README + src/agent.ts + test suite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C85FA3-2232-4201-AB14-66517D40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34105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2DE8AD-A44F-47F1-AC62-2C8D8795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9895B-8229-49E4-A37E-BA61FE32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D79A3-2ABC-46D3-AEA2-74CE47E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METHODOLOGY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C04B9-F5B1-4E7B-8D8B-8FE3B4B1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The pitch is strong because the MVP says what is real and what is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2F3A4-BC05-4C5D-AEF4-67F91F72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28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4C8B7-244E-40BF-96A8-F19E4198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C5928-D580-4F38-8E72-BFA2B65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1A7CC-3CA2-49C0-90B5-DB0F98EE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MVP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BA7B4-23C4-4E9E-B0F8-25C6BC5C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3AF09-C259-4805-AEBA-D2C7C675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Invite-only funnel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25DE5-4709-43AC-BA5B-89532A59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432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00A56-A10C-439F-925A-4C3BB922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EF312-A093-4C9A-BFEE-E386C417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START opens first-circle invite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9AA76-6CB3-43F7-92ED-DFC16C6C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F059D-3024-401A-B7BE-FC1FDFC5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LinkedIn verification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B5CE2-55F1-4024-8ED5-022B3A66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575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FE1A6-0C61-4C0A-9A97-5436733A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147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55D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5D35"/>
                </a:solidFill>
                <a:latin typeface="Aptos"/>
                <a:ea typeface="Aptos"/>
                <a:cs typeface="Aptos"/>
              </a:rPr>
              <a:t>MVP HEURISTIC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6FFD4-1FD9-48B1-B104-A78ADFBA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URL validation only; no scraping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88010-B577-4C0E-9E00-C688B2A8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D505F-31F6-4A1F-9FF4-15446430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AI Passport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3BEDB-717F-4470-80A3-5BA097C3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719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6B9D1-8296-4F0F-B35A-2BBEDC09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290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D98A23-AB9E-4206-BE20-EF6F138A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redaction + approval before matching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06CE6-9ACD-4335-8876-9284A1B6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1EE71-99CE-45BA-BF61-12C0A052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Room recommendation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F40175-E555-408E-9A4D-CAB8F267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862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79CE4-72A4-4072-8F31-F42BCFA5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434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55D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5D35"/>
                </a:solidFill>
                <a:latin typeface="Aptos"/>
                <a:ea typeface="Aptos"/>
                <a:cs typeface="Aptos"/>
              </a:rPr>
              <a:t>MVP HEURISTIC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7D0079-5550-474B-82B5-89805B5D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243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heuristic dyadic / group / experience scores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CB9A1A-2F4B-4EF6-A50A-0AC53270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F3663F-8D37-49A1-9E7A-62AA972A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Local iOS scheduling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9D30B8-027C-4041-AEC0-6A820C70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006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D2A1DD-7642-4D4C-A9AA-61432308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577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15F43E-DF54-4CDD-963B-F2A3CF13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387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free-window handoff + Calendar-ready card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0CF068-8296-4A48-8C63-272329B7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C35976-1AD6-4EA8-80FE-2104D56D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Native iOS app brain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148A14-FCC0-482C-BE2A-7943C5D6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149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8EA04A-5FEA-46E1-A150-8654C6DC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3721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5B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5B68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0BA34C-327C-4E87-8F3B-2F143143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530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EventKit, MapKit, Contacts, App Intents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203D42-B694-4746-A449-A213B72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C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6C4F"/>
                </a:solidFill>
                <a:latin typeface="Aptos"/>
                <a:ea typeface="Aptos"/>
                <a:cs typeface="Aptos"/>
              </a:rPr>
              <a:t>Use the live command: METHODOLOGY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38A585-D6E0-4BA3-93B9-BD3994D4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Source: src/methodology_map.ts + src/commonground_methodology.ts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46F157-C2E8-4A66-9B08-04E0F3A3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80298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FF7C26-CAE3-4234-BFE7-4C0C503A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A1AE2-254F-4013-8CC1-1052F760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9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C0E46-67E4-41B5-8C96-96DB64FE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95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A959"/>
                </a:solidFill>
                <a:latin typeface="Aptos"/>
                <a:ea typeface="Aptos"/>
                <a:cs typeface="Aptos"/>
              </a:rPr>
              <a:t>DEMO 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87230-E46B-42A6-AFBC-37C75074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5E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5EF"/>
                </a:solidFill>
                <a:latin typeface="Aptos Display"/>
                <a:ea typeface="Aptos Display"/>
                <a:cs typeface="Aptos Display"/>
              </a:rPr>
              <a:t>Run the live flow, then show the branch and PR.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B169F-7E33-4E71-B9F0-39AD82E8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3340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C1E39-87D3-4AEE-851B-C4ECF1F7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49149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START</a:t>
            </a:r>
          </a:p>
          <a:p xmlns:a="http://schemas.openxmlformats.org/drawingml/2006/main">
            <a:pPr algn="l">
              <a:def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CONSENT</a:t>
            </a:r>
          </a:p>
          <a:p xmlns:a="http://schemas.openxmlformats.org/drawingml/2006/main">
            <a:pPr algn="l">
              <a:def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https://www.linkedin.com/in/your-profile/</a:t>
            </a:r>
          </a:p>
          <a:p xmlns:a="http://schemas.openxmlformats.org/drawingml/2006/main">
            <a:pPr algn="l">
              <a:def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[paste AI Passport]</a:t>
            </a:r>
          </a:p>
          <a:p xmlns:a="http://schemas.openxmlformats.org/drawingml/2006/main">
            <a:pPr algn="l">
              <a:def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APPROVE</a:t>
            </a:r>
          </a:p>
          <a:p xmlns:a="http://schemas.openxmlformats.org/drawingml/2006/main">
            <a:pPr algn="l">
              <a:def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[preferences]</a:t>
            </a:r>
          </a:p>
          <a:p xmlns:a="http://schemas.openxmlformats.org/drawingml/2006/main">
            <a:pPr algn="l">
              <a:def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YES</a:t>
            </a:r>
          </a:p>
          <a:p xmlns:a="http://schemas.openxmlformats.org/drawingml/2006/main">
            <a:pPr algn="l">
              <a:def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you: Thu 7:30 PM; Mina: Thu 7:30 PM</a:t>
            </a:r>
          </a:p>
          <a:p xmlns:a="http://schemas.openxmlformats.org/drawingml/2006/main">
            <a:pPr algn="l">
              <a:def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CONFIRM ROOM</a:t>
            </a:r>
          </a:p>
          <a:p xmlns:a="http://schemas.openxmlformats.org/drawingml/2006/main">
            <a:pPr algn="l">
              <a:def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AF0E8"/>
                </a:solidFill>
                <a:latin typeface="Aptos Mono"/>
                <a:ea typeface="Aptos Mono"/>
                <a:cs typeface="Aptos Mono"/>
              </a:rPr>
              <a:t>METHODOLOGY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C60F4-87D0-440E-BD1B-10CFB971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095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ED545-F780-459C-9D97-E219C0C1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F5F4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F5F4B"/>
                </a:solidFill>
                <a:latin typeface="Aptos"/>
                <a:ea typeface="Aptos"/>
                <a:cs typeface="Aptos"/>
              </a:rPr>
              <a:t>What judges should 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339BB-B8A2-4C90-8364-4D7131ED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333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11F"/>
                </a:solidFill>
                <a:latin typeface="Aptos"/>
                <a:ea typeface="Aptos"/>
                <a:cs typeface="Aptos"/>
              </a:rPr>
              <a:t>CommonGround is a recommender system for the first hour, not a one-shot compatibility score.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65F0C-D0A3-4603-8342-655CCA5D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095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3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AE312-0ED6-478A-84E6-F81625AC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767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55D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55D35"/>
                </a:solidFill>
                <a:latin typeface="Aptos"/>
                <a:ea typeface="Aptos"/>
                <a:cs typeface="Aptos"/>
              </a:rPr>
              <a:t>Next build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305D5-0B15-4165-9C9E-EE2DC314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148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11F"/>
                </a:solidFill>
                <a:latin typeface="Aptos"/>
                <a:ea typeface="Aptos"/>
                <a:cs typeface="Aptos"/>
              </a:rPr>
              <a:t>Native iOS app: EventKit write-only, MapKit venue picker, Contacts picker, App Intents, and web fallback.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CB72E-4B5B-4201-A04B-7838C90A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388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A9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A959"/>
                </a:solidFill>
                <a:latin typeface="Aptos"/>
                <a:ea typeface="Aptos"/>
                <a:cs typeface="Aptos"/>
              </a:rPr>
              <a:t>PR #3 is the source of truth for the current demo branch.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42F14-0418-4C32-9296-40FE1CD0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C7A89"/>
                </a:solidFill>
                <a:latin typeface="Aptos"/>
                <a:ea typeface="Aptos"/>
                <a:cs typeface="Aptos"/>
              </a:rPr>
              <a:t>Final slide: live script + 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48A89-5000-4F18-B699-9A69EA92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C7A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7A8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3225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2026-06-06T07:50:02.8320000Z</dcterms:created>
  <dcterms:modified xsi:type="dcterms:W3CDTF">2026-06-06T07:50:02.8320000Z</dcterms:modified>
</coreProperties>
</file>